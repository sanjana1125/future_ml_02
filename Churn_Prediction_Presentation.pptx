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Machine Learning Analysis &amp; Business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1. Problem Statement &amp; Objectives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2. Data Overview &amp; Key Insights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3. Methodology &amp; Model Development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4. Model Performance &amp; Results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5. Feature Importance &amp; Churn Drivers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6. Customer Risk Segmentation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7. Business Recommendations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8. Financial Impact &amp; ROI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9. Implementation Roadmap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10. Conclusion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🎯 Challenge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Customer churn costs banks millions in lost revenue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Acquiring new customers is 5-7x more expensive than retention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Current churn rate: 20.37% (2,037 customers annually)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🎯 Objective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Predict which customers will churn before they leave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Identify key factors driving customer attrition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Enable proactive, targeted retention strategies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Maximize ROI on retention investments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788"/>
                </a:solidFill>
              </a:defRPr>
            </a:pPr>
            <a:r>
              <a:t>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/>
            </a:pPr>
            <a:r>
              <a:t>📊 Dataset Statistics</a:t>
            </a:r>
          </a:p>
          <a:p>
            <a:pPr>
              <a:spcBef>
                <a:spcPts val="800"/>
              </a:spcBef>
              <a:defRPr sz="1600"/>
            </a:pPr>
            <a:r>
              <a:t>• Total customers: 10,000</a:t>
            </a:r>
          </a:p>
          <a:p>
            <a:pPr>
              <a:spcBef>
                <a:spcPts val="800"/>
              </a:spcBef>
              <a:defRPr sz="1600"/>
            </a:pPr>
            <a:r>
              <a:t>• Features analyzed: 14</a:t>
            </a:r>
          </a:p>
          <a:p>
            <a:pPr>
              <a:spcBef>
                <a:spcPts val="800"/>
              </a:spcBef>
              <a:defRPr sz="1600"/>
            </a:pPr>
            <a:r>
              <a:t>• Churn rate: 20.37%</a:t>
            </a:r>
          </a:p>
          <a:p>
            <a:pPr>
              <a:spcBef>
                <a:spcPts val="800"/>
              </a:spcBef>
              <a:defRPr sz="1600"/>
            </a:pPr>
            <a:r>
              <a:t>• Data quality: No missing values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📍 Geographic Distribution</a:t>
            </a:r>
          </a:p>
          <a:p>
            <a:pPr>
              <a:spcBef>
                <a:spcPts val="800"/>
              </a:spcBef>
              <a:defRPr sz="1600"/>
            </a:pPr>
            <a:r>
              <a:t>• France: 50.1%</a:t>
            </a:r>
          </a:p>
          <a:p>
            <a:pPr>
              <a:spcBef>
                <a:spcPts val="800"/>
              </a:spcBef>
              <a:defRPr sz="1600"/>
            </a:pPr>
            <a:r>
              <a:t>• Germany: 25.1%</a:t>
            </a:r>
          </a:p>
          <a:p>
            <a:pPr>
              <a:spcBef>
                <a:spcPts val="800"/>
              </a:spcBef>
              <a:defRPr sz="1600"/>
            </a:pPr>
            <a:r>
              <a:t>• Spain: 24.8%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/>
            </a:pPr>
            <a:r>
              <a:t>👥 Customer Demographics</a:t>
            </a:r>
          </a:p>
          <a:p>
            <a:pPr>
              <a:spcBef>
                <a:spcPts val="800"/>
              </a:spcBef>
              <a:defRPr sz="1600"/>
            </a:pPr>
            <a:r>
              <a:t>• Age range: 18-92 years</a:t>
            </a:r>
          </a:p>
          <a:p>
            <a:pPr>
              <a:spcBef>
                <a:spcPts val="800"/>
              </a:spcBef>
              <a:defRPr sz="1600"/>
            </a:pPr>
            <a:r>
              <a:t>• Gender: 54.6% Male, 45.4% Female</a:t>
            </a:r>
          </a:p>
          <a:p>
            <a:pPr>
              <a:spcBef>
                <a:spcPts val="800"/>
              </a:spcBef>
              <a:defRPr sz="1600"/>
            </a:pPr>
            <a:r>
              <a:t>• Avg tenure: 5 years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💰 Financial Metrics</a:t>
            </a:r>
          </a:p>
          <a:p>
            <a:pPr>
              <a:spcBef>
                <a:spcPts val="800"/>
              </a:spcBef>
              <a:defRPr sz="1600"/>
            </a:pPr>
            <a:r>
              <a:t>• Avg balance: $76,486</a:t>
            </a:r>
          </a:p>
          <a:p>
            <a:pPr>
              <a:spcBef>
                <a:spcPts val="800"/>
              </a:spcBef>
              <a:defRPr sz="1600"/>
            </a:pPr>
            <a:r>
              <a:t>• Avg credit score: 650</a:t>
            </a:r>
          </a:p>
          <a:p>
            <a:pPr>
              <a:spcBef>
                <a:spcPts val="800"/>
              </a:spcBef>
              <a:defRPr sz="1600"/>
            </a:pPr>
            <a:r>
              <a:t>• Avg salary: $100,091</a:t>
            </a:r>
          </a:p>
          <a:p>
            <a:pPr>
              <a:spcBef>
                <a:spcPts val="800"/>
              </a:spcBef>
              <a:defRPr sz="1600"/>
            </a:pPr>
            <a:r>
              <a:t>• Products per customer: 1-4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Key Data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🌍 Geography Matters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Germany: 32% churn (2x higher than France/Spain)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👴 Age is Critical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Customers 50+ show significantly higher churn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Age is the #1 predictor (23.8% importance)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💳 Product Usage Patterns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Customers with 3-4 products: 80%+ churn rate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Inactive members: 2.5x more likely to churn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👥 Gender Gap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Female customers: 25% churn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Male customers: 16% churn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🔧 Data Preparation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Feature engineering: Created 5 new predictive features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Data split: 80% training, 20% testing (stratified)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Preprocessing: StandardScaler + OneHotEncoder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🤖 Models Evaluated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Logistic Regression (baseline)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Random Forest (ensemble method)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XGBoost (gradient boosting)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📊 Evaluation Metrics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AUC-ROC score (primary metric)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Accuracy, Precision, Recall, F1-Score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Confusion matrix analysis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Business impact assessment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🏆 Best Model: Random Forest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📊 Performance Metrics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AUC Score: 0.854 (Excellent discrimination)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Accuracy: 85.7%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Precision: 72.4% (Low false positives)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Recall: 47.7% (Catches ~half of churners)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F1-Score: 57.5%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✅ Why Random Forest Won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Best balance of precision and recall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Robust to overfitting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Provides feature importance insights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Production-ready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Top Churn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🎯 Top 5 Features (Combined importance: 66%)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1️⃣ Age (23.8%)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   → Older customers significantly more likely to churn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2️⃣ Number of Products (11.5%)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   → Too few or too many products increase risk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3️⃣ Estimated Salary (10.9%)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   → Income level correlates with churn behavior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4️⃣ Account Balance (10.7%)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   → Balance extremes (very low/high) show different patterns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5️⃣ Credit Score (10.6%)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   → Financial health affects retention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Customer Risk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🎯 Three-Tier Risk Model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🟢 Low Risk (&lt; 30% probability)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Majority of customer base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Standard service approach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🟡 Medium Risk (30-70% probability)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Early warning signs present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Proactive engagement recommended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🔴 High Risk (&gt; 70% probability)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130 customers identified in test set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86.9% actually churned (validated accuracy)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Average churn probability: 82.1%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Immediate intervention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High-Risk Customer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⚠️ Characteristics of At-Risk Customers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📊 Demographics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Average age: 52 years (older segment)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Geographic concentration: Higher in Germany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💰 Financial Profile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Average balance: $72,000 (moderate)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Average credit score: 652 (fair)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Income: Varied distribution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💳 Behavior Patterns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Lower product holdings (1-2 products)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Often inactive members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Longer tenure paradoxically at risk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🎯 Strategic Implication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Focus retention efforts on this well-defined segment for maximum ROI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🚨 Immediate Actions (Week 1-4)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Deploy predictive model in production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Launch high-risk customer outreach campaign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Investigate Germany market dynamics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📅 Short-Term Initiatives (Month 2-6)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Develop age-based retention programs (50+ focus)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Optimize product portfolio (address 3-4 product issue)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Re-activate inactive members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🎯 Long-Term Strategy (6-12 Months)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Build customer health monitoring dashboard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Implement continuous model improvement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Expand geographic strategies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Integrate with CRM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Financial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💰 Current State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Annual churn: 2,037 customers (20.37%)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Revenue at risk: $30.6 million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💵 Conservative Scenario (10% reduction)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Customers retained: 204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Revenue preserved: $3.06M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Net benefit: $3.03M (after intervention costs)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ROI: 11,665%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🎯 High-Risk Focus Strategy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Target: 130 high-risk customers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Expected saves: 57 customers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Revenue preserved: $855,000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Investment: $26,000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Net benefit: $829,000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ROI: 3,188%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Phase 1: Model Deployment (Week 1-2)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Deploy to production, train teams, automate scoring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Phase 2: Pilot Campaign (Week 3-6)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Launch high-risk outreach, A/B test offers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Target: 70% contact rate, 40% acceptance, 25% churn reduction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Phase 3: Scale &amp; Optimize (Month 2-3)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Expand to medium risk, refine segmentation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Target: 15% overall churn reduction, positive ROI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Phase 4: Strategic Integration (Month 4-6)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CRM integration, executive dashboards, model refresh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Target: 20%+ churn reduction, continuous improvement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Critical Success Factors: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✓ Executive sponsorship  ✓ Cross-functional alignment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✓ Data infrastructure   ✓ Change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788"/>
                </a:solidFill>
              </a:defRPr>
            </a:pPr>
            <a: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/>
            </a:pPr>
            <a:r>
              <a:t>📈 Quantitative Results</a:t>
            </a:r>
          </a:p>
          <a:p>
            <a:pPr>
              <a:spcBef>
                <a:spcPts val="800"/>
              </a:spcBef>
              <a:defRPr sz="1600"/>
            </a:pPr>
            <a:r>
              <a:t>• 20-30% churn reduction</a:t>
            </a:r>
          </a:p>
          <a:p>
            <a:pPr>
              <a:spcBef>
                <a:spcPts val="800"/>
              </a:spcBef>
              <a:defRPr sz="1600"/>
            </a:pPr>
            <a:r>
              <a:t>• $6-9M revenue preservation</a:t>
            </a:r>
          </a:p>
          <a:p>
            <a:pPr>
              <a:spcBef>
                <a:spcPts val="800"/>
              </a:spcBef>
              <a:defRPr sz="1600"/>
            </a:pPr>
            <a:r>
              <a:t>• 7,000%+ ROI</a:t>
            </a:r>
          </a:p>
          <a:p>
            <a:pPr>
              <a:spcBef>
                <a:spcPts val="800"/>
              </a:spcBef>
              <a:defRPr sz="1600"/>
            </a:pPr>
            <a:r>
              <a:t>• 85%+ prediction accuracy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🎯 Operational Benefits</a:t>
            </a:r>
          </a:p>
          <a:p>
            <a:pPr>
              <a:spcBef>
                <a:spcPts val="800"/>
              </a:spcBef>
              <a:defRPr sz="1600"/>
            </a:pPr>
            <a:r>
              <a:t>• Proactive vs reactive approach</a:t>
            </a:r>
          </a:p>
          <a:p>
            <a:pPr>
              <a:spcBef>
                <a:spcPts val="800"/>
              </a:spcBef>
              <a:defRPr sz="1600"/>
            </a:pPr>
            <a:r>
              <a:t>• Targeted resource allocation</a:t>
            </a:r>
          </a:p>
          <a:p>
            <a:pPr>
              <a:spcBef>
                <a:spcPts val="800"/>
              </a:spcBef>
              <a:defRPr sz="1600"/>
            </a:pPr>
            <a:r>
              <a:t>• Real-time risk monitoring</a:t>
            </a:r>
          </a:p>
          <a:p>
            <a:pPr>
              <a:spcBef>
                <a:spcPts val="800"/>
              </a:spcBef>
              <a:defRPr sz="1600"/>
            </a:pPr>
            <a:r>
              <a:t>• Data-driven decision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/>
            </a:pPr>
            <a:r>
              <a:t>💼 Strategic Advantages</a:t>
            </a:r>
          </a:p>
          <a:p>
            <a:pPr>
              <a:spcBef>
                <a:spcPts val="800"/>
              </a:spcBef>
              <a:defRPr sz="1600"/>
            </a:pPr>
            <a:r>
              <a:t>• Customer lifetime value increase</a:t>
            </a:r>
          </a:p>
          <a:p>
            <a:pPr>
              <a:spcBef>
                <a:spcPts val="800"/>
              </a:spcBef>
              <a:defRPr sz="1600"/>
            </a:pPr>
            <a:r>
              <a:t>• Competitive differentiation</a:t>
            </a:r>
          </a:p>
          <a:p>
            <a:pPr>
              <a:spcBef>
                <a:spcPts val="800"/>
              </a:spcBef>
              <a:defRPr sz="1600"/>
            </a:pPr>
            <a:r>
              <a:t>• Enhanced customer experience</a:t>
            </a:r>
          </a:p>
          <a:p>
            <a:pPr>
              <a:spcBef>
                <a:spcPts val="800"/>
              </a:spcBef>
              <a:defRPr sz="1600"/>
            </a:pPr>
            <a:r>
              <a:t>• Predictive intelligence capability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🚀 Long-Term Impact</a:t>
            </a:r>
          </a:p>
          <a:p>
            <a:pPr>
              <a:spcBef>
                <a:spcPts val="800"/>
              </a:spcBef>
              <a:defRPr sz="1600"/>
            </a:pPr>
            <a:r>
              <a:t>• Foundation for AI-driven CRM</a:t>
            </a:r>
          </a:p>
          <a:p>
            <a:pPr>
              <a:spcBef>
                <a:spcPts val="800"/>
              </a:spcBef>
              <a:defRPr sz="1600"/>
            </a:pPr>
            <a:r>
              <a:t>• Cross-sell opportunity identification</a:t>
            </a:r>
          </a:p>
          <a:p>
            <a:pPr>
              <a:spcBef>
                <a:spcPts val="800"/>
              </a:spcBef>
              <a:defRPr sz="1600"/>
            </a:pPr>
            <a:r>
              <a:t>• Market expansion insights</a:t>
            </a:r>
          </a:p>
          <a:p>
            <a:pPr>
              <a:spcBef>
                <a:spcPts val="800"/>
              </a:spcBef>
              <a:defRPr sz="1600"/>
            </a:pPr>
            <a:r>
              <a:t>• Continuous optimization culture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788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✅ Project Achievements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Developed highly accurate churn prediction model (85.4% AUC)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Identified 130 high-risk customers with 87% accuracy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Discovered actionable churn drivers (age, products, geography)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Projected $6-9M in revenue preservation opportunity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🎯 Business Value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Transforms retention from reactive to proactive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Enables cost-effective, targeted interventions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Generates exceptional ROI (&gt;7,000%)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Establishes foundation for predictive customer intelligence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🚀 Next Steps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Immediate model deployment approved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High-risk pilot campaign launching Week 1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1800"/>
            </a:pPr>
            <a:r>
              <a:t>• Full implementation roadmap established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